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slideLayouts/slideLayout4.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slides/slide2.xml" ContentType="application/vnd.openxmlformats-officedocument.presentationml.slide+xml"/>
  <Override PartName="/ppt/diagrams/data1.xml" ContentType="application/vnd.openxmlformats-officedocument.drawingml.diagramData+xml"/>
  <Override PartName="/ppt/diagrams/colors1.xml" ContentType="application/vnd.openxmlformats-officedocument.drawingml.diagramColors+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theme/theme1.xml" ContentType="application/vnd.openxmlformats-officedocument.theme+xml"/>
  <Override PartName="/ppt/slideLayouts/slideLayout7.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9"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6" autoAdjust="0"/>
    <p:restoredTop sz="94660"/>
  </p:normalViewPr>
  <p:slideViewPr>
    <p:cSldViewPr snapToGrid="0">
      <p:cViewPr>
        <p:scale>
          <a:sx n="66" d="100"/>
          <a:sy n="66" d="100"/>
        </p:scale>
        <p:origin x="1144"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101D95-BF4C-4E46-9723-0E48F9AE5E5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51263A4F-9231-4512-A6A2-A4893C7D5B9A}">
      <dgm:prSet phldrT="[Text]" phldr="0" custT="1"/>
      <dgm:spPr/>
      <dgm:t>
        <a:bodyPr/>
        <a:lstStyle/>
        <a:p>
          <a:r>
            <a:rPr lang="en-US" sz="2400" b="1">
              <a:solidFill>
                <a:schemeClr val="tx1"/>
              </a:solidFill>
              <a:latin typeface="Tahoma" panose="020B0604030504040204" pitchFamily="34" charset="0"/>
              <a:ea typeface="Tahoma" panose="020B0604030504040204" pitchFamily="34" charset="0"/>
              <a:cs typeface="Tahoma" panose="020B0604030504040204" pitchFamily="34" charset="0"/>
            </a:rPr>
            <a:t>Kho dữ liệu an toàn</a:t>
          </a:r>
        </a:p>
        <a:p>
          <a:r>
            <a:rPr lang="en-US" sz="2400">
              <a:latin typeface="Tahoma" panose="020B0604030504040204" pitchFamily="34" charset="0"/>
              <a:ea typeface="Tahoma" panose="020B0604030504040204" pitchFamily="34" charset="0"/>
              <a:cs typeface="Tahoma" panose="020B0604030504040204" pitchFamily="34" charset="0"/>
            </a:rPr>
            <a:t>Bắt đầu với một kho dữ liệu đóng (ví dụ: bộ 200-500 ảnh, biểu đồ, icon đã được chuẩn hóa của công ty, hoặc một thư viện ảnh stock an toàn</a:t>
          </a:r>
        </a:p>
      </dgm:t>
    </dgm:pt>
    <dgm:pt modelId="{312499C1-A5B2-449B-82F2-61A13E542F68}" type="parTrans" cxnId="{5EA06392-1728-48F7-BA24-8EACA5660581}">
      <dgm:prSet/>
      <dgm:spPr/>
      <dgm:t>
        <a:bodyPr/>
        <a:lstStyle/>
        <a:p>
          <a:endParaRPr lang="en-US"/>
        </a:p>
      </dgm:t>
    </dgm:pt>
    <dgm:pt modelId="{25BD9D4D-99D9-4F79-801C-5FC9991E6F06}" type="sibTrans" cxnId="{5EA06392-1728-48F7-BA24-8EACA5660581}">
      <dgm:prSet/>
      <dgm:spPr/>
      <dgm:t>
        <a:bodyPr/>
        <a:lstStyle/>
        <a:p>
          <a:endParaRPr lang="en-US"/>
        </a:p>
      </dgm:t>
    </dgm:pt>
    <dgm:pt modelId="{5CC1EAD9-B781-4866-B0F9-E32C3DA36BF6}">
      <dgm:prSet phldrT="[Text]" custT="1"/>
      <dgm:spPr/>
      <dgm:t>
        <a:bodyPr/>
        <a:lstStyle/>
        <a:p>
          <a:pPr>
            <a:buNone/>
          </a:pPr>
          <a:r>
            <a:rPr lang="en-US" sz="2400" b="1">
              <a:solidFill>
                <a:schemeClr val="tx1"/>
              </a:solidFill>
              <a:latin typeface="Tahoma" panose="020B0604030504040204" pitchFamily="34" charset="0"/>
              <a:ea typeface="Tahoma" panose="020B0604030504040204" pitchFamily="34" charset="0"/>
              <a:cs typeface="Tahoma" panose="020B0604030504040204" pitchFamily="34" charset="0"/>
            </a:rPr>
            <a:t>Thiết lập cơ chế gợi ý</a:t>
          </a:r>
        </a:p>
        <a:p>
          <a:pPr>
            <a:buNone/>
          </a:pPr>
          <a:r>
            <a:rPr lang="en-US" sz="2400">
              <a:latin typeface="Tahoma" panose="020B0604030504040204" pitchFamily="34" charset="0"/>
              <a:ea typeface="Tahoma" panose="020B0604030504040204" pitchFamily="34" charset="0"/>
              <a:cs typeface="Tahoma" panose="020B0604030504040204" pitchFamily="34" charset="0"/>
            </a:rPr>
            <a:t>2-3 lựa chọn do AI gợi ý trong 1 giây, bấm nút là hiển thị lên màn hình lớn. Khi hệ thống chạy mượt và chính xác &gt;90%, mới bật chế độ tự động</a:t>
          </a:r>
        </a:p>
      </dgm:t>
    </dgm:pt>
    <dgm:pt modelId="{AE0BAF3B-18F1-4122-994F-F5ACF69A52BF}" type="parTrans" cxnId="{2F426B7C-1930-48CD-9991-94A7F25A7005}">
      <dgm:prSet/>
      <dgm:spPr/>
      <dgm:t>
        <a:bodyPr/>
        <a:lstStyle/>
        <a:p>
          <a:endParaRPr lang="en-US"/>
        </a:p>
      </dgm:t>
    </dgm:pt>
    <dgm:pt modelId="{421FD0C3-C1CB-4E76-A5EA-246987F4542E}" type="sibTrans" cxnId="{2F426B7C-1930-48CD-9991-94A7F25A7005}">
      <dgm:prSet/>
      <dgm:spPr/>
      <dgm:t>
        <a:bodyPr/>
        <a:lstStyle/>
        <a:p>
          <a:endParaRPr lang="en-US"/>
        </a:p>
      </dgm:t>
    </dgm:pt>
    <dgm:pt modelId="{6B54A31D-60F3-4C78-B7F1-CDB1FA3699A4}" type="pres">
      <dgm:prSet presAssocID="{EE101D95-BF4C-4E46-9723-0E48F9AE5E5B}" presName="diagram" presStyleCnt="0">
        <dgm:presLayoutVars>
          <dgm:dir/>
          <dgm:resizeHandles val="exact"/>
        </dgm:presLayoutVars>
      </dgm:prSet>
      <dgm:spPr/>
    </dgm:pt>
    <dgm:pt modelId="{38A678CD-DEF9-4004-9363-B07744C85020}" type="pres">
      <dgm:prSet presAssocID="{51263A4F-9231-4512-A6A2-A4893C7D5B9A}" presName="node" presStyleLbl="node1" presStyleIdx="0" presStyleCnt="2">
        <dgm:presLayoutVars>
          <dgm:bulletEnabled val="1"/>
        </dgm:presLayoutVars>
      </dgm:prSet>
      <dgm:spPr/>
    </dgm:pt>
    <dgm:pt modelId="{1A96AC74-208E-4A55-9F77-0DEBFD8E9B0B}" type="pres">
      <dgm:prSet presAssocID="{25BD9D4D-99D9-4F79-801C-5FC9991E6F06}" presName="sibTrans" presStyleCnt="0"/>
      <dgm:spPr/>
    </dgm:pt>
    <dgm:pt modelId="{34C05571-75A6-4A83-B429-586F472B2607}" type="pres">
      <dgm:prSet presAssocID="{5CC1EAD9-B781-4866-B0F9-E32C3DA36BF6}" presName="node" presStyleLbl="node1" presStyleIdx="1" presStyleCnt="2">
        <dgm:presLayoutVars>
          <dgm:bulletEnabled val="1"/>
        </dgm:presLayoutVars>
      </dgm:prSet>
      <dgm:spPr/>
    </dgm:pt>
  </dgm:ptLst>
  <dgm:cxnLst>
    <dgm:cxn modelId="{640D5157-3592-451E-95A4-EB451AC7C415}" type="presOf" srcId="{EE101D95-BF4C-4E46-9723-0E48F9AE5E5B}" destId="{6B54A31D-60F3-4C78-B7F1-CDB1FA3699A4}" srcOrd="0" destOrd="0" presId="urn:microsoft.com/office/officeart/2005/8/layout/default"/>
    <dgm:cxn modelId="{2F426B7C-1930-48CD-9991-94A7F25A7005}" srcId="{EE101D95-BF4C-4E46-9723-0E48F9AE5E5B}" destId="{5CC1EAD9-B781-4866-B0F9-E32C3DA36BF6}" srcOrd="1" destOrd="0" parTransId="{AE0BAF3B-18F1-4122-994F-F5ACF69A52BF}" sibTransId="{421FD0C3-C1CB-4E76-A5EA-246987F4542E}"/>
    <dgm:cxn modelId="{5EA06392-1728-48F7-BA24-8EACA5660581}" srcId="{EE101D95-BF4C-4E46-9723-0E48F9AE5E5B}" destId="{51263A4F-9231-4512-A6A2-A4893C7D5B9A}" srcOrd="0" destOrd="0" parTransId="{312499C1-A5B2-449B-82F2-61A13E542F68}" sibTransId="{25BD9D4D-99D9-4F79-801C-5FC9991E6F06}"/>
    <dgm:cxn modelId="{9C1649F8-C5B1-4461-9511-C096D7C208BD}" type="presOf" srcId="{5CC1EAD9-B781-4866-B0F9-E32C3DA36BF6}" destId="{34C05571-75A6-4A83-B429-586F472B2607}" srcOrd="0" destOrd="0" presId="urn:microsoft.com/office/officeart/2005/8/layout/default"/>
    <dgm:cxn modelId="{9096D8FB-706B-4779-A6B6-45AC469E7DC4}" type="presOf" srcId="{51263A4F-9231-4512-A6A2-A4893C7D5B9A}" destId="{38A678CD-DEF9-4004-9363-B07744C85020}" srcOrd="0" destOrd="0" presId="urn:microsoft.com/office/officeart/2005/8/layout/default"/>
    <dgm:cxn modelId="{3C2AA079-8938-4769-AB2C-63F3242651BB}" type="presParOf" srcId="{6B54A31D-60F3-4C78-B7F1-CDB1FA3699A4}" destId="{38A678CD-DEF9-4004-9363-B07744C85020}" srcOrd="0" destOrd="0" presId="urn:microsoft.com/office/officeart/2005/8/layout/default"/>
    <dgm:cxn modelId="{50D1AB52-A4C1-43C4-98AF-0D4A4D2F4D6D}" type="presParOf" srcId="{6B54A31D-60F3-4C78-B7F1-CDB1FA3699A4}" destId="{1A96AC74-208E-4A55-9F77-0DEBFD8E9B0B}" srcOrd="1" destOrd="0" presId="urn:microsoft.com/office/officeart/2005/8/layout/default"/>
    <dgm:cxn modelId="{6E645414-AF88-4235-AC8E-CE654CE39790}" type="presParOf" srcId="{6B54A31D-60F3-4C78-B7F1-CDB1FA3699A4}" destId="{34C05571-75A6-4A83-B429-586F472B2607}"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A678CD-DEF9-4004-9363-B07744C85020}">
      <dsp:nvSpPr>
        <dsp:cNvPr id="0" name=""/>
        <dsp:cNvSpPr/>
      </dsp:nvSpPr>
      <dsp:spPr>
        <a:xfrm>
          <a:off x="1361" y="290108"/>
          <a:ext cx="5311536" cy="31869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solidFill>
                <a:schemeClr val="tx1"/>
              </a:solidFill>
              <a:latin typeface="Tahoma" panose="020B0604030504040204" pitchFamily="34" charset="0"/>
              <a:ea typeface="Tahoma" panose="020B0604030504040204" pitchFamily="34" charset="0"/>
              <a:cs typeface="Tahoma" panose="020B0604030504040204" pitchFamily="34" charset="0"/>
            </a:rPr>
            <a:t>Kho dữ liệu an toàn</a:t>
          </a:r>
        </a:p>
        <a:p>
          <a:pPr marL="0" lvl="0" indent="0" algn="ctr" defTabSz="1066800">
            <a:lnSpc>
              <a:spcPct val="90000"/>
            </a:lnSpc>
            <a:spcBef>
              <a:spcPct val="0"/>
            </a:spcBef>
            <a:spcAft>
              <a:spcPct val="35000"/>
            </a:spcAft>
            <a:buNone/>
          </a:pPr>
          <a:r>
            <a:rPr lang="en-US" sz="2400" kern="1200">
              <a:latin typeface="Tahoma" panose="020B0604030504040204" pitchFamily="34" charset="0"/>
              <a:ea typeface="Tahoma" panose="020B0604030504040204" pitchFamily="34" charset="0"/>
              <a:cs typeface="Tahoma" panose="020B0604030504040204" pitchFamily="34" charset="0"/>
            </a:rPr>
            <a:t>Bắt đầu với một kho dữ liệu đóng (ví dụ: bộ 200-500 ảnh, biểu đồ, icon đã được chuẩn hóa của công ty, hoặc một thư viện ảnh stock an toàn</a:t>
          </a:r>
        </a:p>
      </dsp:txBody>
      <dsp:txXfrm>
        <a:off x="1361" y="290108"/>
        <a:ext cx="5311536" cy="3186921"/>
      </dsp:txXfrm>
    </dsp:sp>
    <dsp:sp modelId="{34C05571-75A6-4A83-B429-586F472B2607}">
      <dsp:nvSpPr>
        <dsp:cNvPr id="0" name=""/>
        <dsp:cNvSpPr/>
      </dsp:nvSpPr>
      <dsp:spPr>
        <a:xfrm>
          <a:off x="5844051" y="290108"/>
          <a:ext cx="5311536" cy="318692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solidFill>
                <a:schemeClr val="tx1"/>
              </a:solidFill>
              <a:latin typeface="Tahoma" panose="020B0604030504040204" pitchFamily="34" charset="0"/>
              <a:ea typeface="Tahoma" panose="020B0604030504040204" pitchFamily="34" charset="0"/>
              <a:cs typeface="Tahoma" panose="020B0604030504040204" pitchFamily="34" charset="0"/>
            </a:rPr>
            <a:t>Thiết lập cơ chế gợi ý</a:t>
          </a:r>
        </a:p>
        <a:p>
          <a:pPr marL="0" lvl="0" indent="0" algn="ctr" defTabSz="1066800">
            <a:lnSpc>
              <a:spcPct val="90000"/>
            </a:lnSpc>
            <a:spcBef>
              <a:spcPct val="0"/>
            </a:spcBef>
            <a:spcAft>
              <a:spcPct val="35000"/>
            </a:spcAft>
            <a:buNone/>
          </a:pPr>
          <a:r>
            <a:rPr lang="en-US" sz="2400" kern="1200">
              <a:latin typeface="Tahoma" panose="020B0604030504040204" pitchFamily="34" charset="0"/>
              <a:ea typeface="Tahoma" panose="020B0604030504040204" pitchFamily="34" charset="0"/>
              <a:cs typeface="Tahoma" panose="020B0604030504040204" pitchFamily="34" charset="0"/>
            </a:rPr>
            <a:t>2-3 lựa chọn do AI gợi ý trong 1 giây, bấm nút là hiển thị lên màn hình lớn. Khi hệ thống chạy mượt và chính xác &gt;90%, mới bật chế độ tự động</a:t>
          </a:r>
        </a:p>
      </dsp:txBody>
      <dsp:txXfrm>
        <a:off x="5844051" y="290108"/>
        <a:ext cx="5311536" cy="318692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30720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563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426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83524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97017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31129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99777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76956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10768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68571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6/25/2026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6072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6/25/2026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28604038"/>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2F4044A-8C77-D478-6865-69C6712AF179}"/>
              </a:ext>
            </a:extLst>
          </p:cNvPr>
          <p:cNvSpPr>
            <a:spLocks noGrp="1"/>
          </p:cNvSpPr>
          <p:nvPr>
            <p:ph type="ctrTitle"/>
          </p:nvPr>
        </p:nvSpPr>
        <p:spPr>
          <a:xfrm>
            <a:off x="517870" y="978408"/>
            <a:ext cx="3465681" cy="2450592"/>
          </a:xfrm>
        </p:spPr>
        <p:txBody>
          <a:bodyPr anchor="t">
            <a:normAutofit/>
          </a:bodyPr>
          <a:lstStyle/>
          <a:p>
            <a:r>
              <a:rPr lang="en-US" sz="4800">
                <a:solidFill>
                  <a:schemeClr val="tx2"/>
                </a:solidFill>
              </a:rPr>
              <a:t>KẾ HOẠCH </a:t>
            </a:r>
          </a:p>
        </p:txBody>
      </p:sp>
      <p:sp>
        <p:nvSpPr>
          <p:cNvPr id="3" name="Subtitle 2">
            <a:extLst>
              <a:ext uri="{FF2B5EF4-FFF2-40B4-BE49-F238E27FC236}">
                <a16:creationId xmlns:a16="http://schemas.microsoft.com/office/drawing/2014/main" id="{257066F5-40D8-1B26-8872-FA3CDD997995}"/>
              </a:ext>
            </a:extLst>
          </p:cNvPr>
          <p:cNvSpPr>
            <a:spLocks noGrp="1"/>
          </p:cNvSpPr>
          <p:nvPr>
            <p:ph type="subTitle" idx="1"/>
          </p:nvPr>
        </p:nvSpPr>
        <p:spPr>
          <a:xfrm>
            <a:off x="517870" y="4383745"/>
            <a:ext cx="3880875" cy="1733015"/>
          </a:xfrm>
        </p:spPr>
        <p:txBody>
          <a:bodyPr anchor="t">
            <a:normAutofit/>
          </a:bodyPr>
          <a:lstStyle/>
          <a:p>
            <a:r>
              <a:rPr lang="en-US" sz="2400">
                <a:latin typeface="Tahoma" panose="020B0604030504040204" pitchFamily="34" charset="0"/>
                <a:ea typeface="Tahoma" panose="020B0604030504040204" pitchFamily="34" charset="0"/>
                <a:cs typeface="Tahoma" panose="020B0604030504040204" pitchFamily="34" charset="0"/>
              </a:rPr>
              <a:t>Xây dựng hệ thống </a:t>
            </a:r>
            <a:r>
              <a:rPr lang="en-US" sz="2400" b="1">
                <a:latin typeface="Tahoma" panose="020B0604030504040204" pitchFamily="34" charset="0"/>
                <a:ea typeface="Tahoma" panose="020B0604030504040204" pitchFamily="34" charset="0"/>
                <a:cs typeface="Tahoma" panose="020B0604030504040204" pitchFamily="34" charset="0"/>
              </a:rPr>
              <a:t>"Live-Slide Generator" chạy bằng giọng nói</a:t>
            </a:r>
            <a:endParaRPr lang="en-US" sz="2400">
              <a:latin typeface="Tahoma" panose="020B0604030504040204" pitchFamily="34" charset="0"/>
              <a:ea typeface="Tahoma" panose="020B0604030504040204" pitchFamily="34" charset="0"/>
              <a:cs typeface="Tahoma" panose="020B0604030504040204" pitchFamily="34" charset="0"/>
            </a:endParaRPr>
          </a:p>
        </p:txBody>
      </p:sp>
      <p:sp>
        <p:nvSpPr>
          <p:cNvPr id="25" name="Rectangle 24">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7587E8EB-65BD-3CC8-4D41-729BCD96B5FC}"/>
              </a:ext>
            </a:extLst>
          </p:cNvPr>
          <p:cNvPicPr>
            <a:picLocks noChangeAspect="1"/>
          </p:cNvPicPr>
          <p:nvPr/>
        </p:nvPicPr>
        <p:blipFill>
          <a:blip r:embed="rId2"/>
          <a:srcRect t="8027" r="-2" b="-2"/>
          <a:stretch>
            <a:fillRect/>
          </a:stretch>
        </p:blipFill>
        <p:spPr>
          <a:xfrm>
            <a:off x="4884290" y="657369"/>
            <a:ext cx="6134577" cy="5642166"/>
          </a:xfrm>
          <a:prstGeom prst="rect">
            <a:avLst/>
          </a:prstGeom>
        </p:spPr>
      </p:pic>
      <p:sp>
        <p:nvSpPr>
          <p:cNvPr id="27" name="Rectangle 26">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394408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AE62584-E167-2DFB-AE9A-7BE69972963E}"/>
              </a:ext>
            </a:extLst>
          </p:cNvPr>
          <p:cNvSpPr>
            <a:spLocks noGrp="1"/>
          </p:cNvSpPr>
          <p:nvPr>
            <p:ph type="title"/>
          </p:nvPr>
        </p:nvSpPr>
        <p:spPr>
          <a:xfrm>
            <a:off x="521208" y="978408"/>
            <a:ext cx="6300216" cy="1325880"/>
          </a:xfrm>
        </p:spPr>
        <p:txBody>
          <a:bodyPr>
            <a:normAutofit/>
          </a:bodyPr>
          <a:lstStyle/>
          <a:p>
            <a:r>
              <a:rPr lang="en-US"/>
              <a:t>Diễn giải nội dung </a:t>
            </a:r>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Graphic 6" descr="Questions">
            <a:extLst>
              <a:ext uri="{FF2B5EF4-FFF2-40B4-BE49-F238E27FC236}">
                <a16:creationId xmlns:a16="http://schemas.microsoft.com/office/drawing/2014/main" id="{620CB7AD-344E-A574-4154-B800B12125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7867" y="2429691"/>
            <a:ext cx="3916313" cy="3916313"/>
          </a:xfrm>
          <a:prstGeom prst="rect">
            <a:avLst/>
          </a:prstGeom>
        </p:spPr>
      </p:pic>
      <p:sp>
        <p:nvSpPr>
          <p:cNvPr id="3" name="Content Placeholder 2">
            <a:extLst>
              <a:ext uri="{FF2B5EF4-FFF2-40B4-BE49-F238E27FC236}">
                <a16:creationId xmlns:a16="http://schemas.microsoft.com/office/drawing/2014/main" id="{0F94165F-93EE-C133-7115-977D1E916703}"/>
              </a:ext>
            </a:extLst>
          </p:cNvPr>
          <p:cNvSpPr>
            <a:spLocks noGrp="1"/>
          </p:cNvSpPr>
          <p:nvPr>
            <p:ph idx="1"/>
          </p:nvPr>
        </p:nvSpPr>
        <p:spPr>
          <a:xfrm>
            <a:off x="7507224" y="1088136"/>
            <a:ext cx="4160520" cy="5257800"/>
          </a:xfrm>
        </p:spPr>
        <p:txBody>
          <a:bodyPr>
            <a:normAutofit/>
          </a:bodyPr>
          <a:lstStyle/>
          <a:p>
            <a:r>
              <a:rPr lang="en-US">
                <a:latin typeface="Tahoma" panose="020B0604030504040204" pitchFamily="34" charset="0"/>
                <a:ea typeface="Tahoma" panose="020B0604030504040204" pitchFamily="34" charset="0"/>
                <a:cs typeface="Tahoma" panose="020B0604030504040204" pitchFamily="34" charset="0"/>
              </a:rPr>
              <a:t>Người nói </a:t>
            </a:r>
          </a:p>
          <a:p>
            <a:r>
              <a:rPr lang="en-US">
                <a:latin typeface="Tahoma" panose="020B0604030504040204" pitchFamily="34" charset="0"/>
                <a:ea typeface="Tahoma" panose="020B0604030504040204" pitchFamily="34" charset="0"/>
                <a:cs typeface="Tahoma" panose="020B0604030504040204" pitchFamily="34" charset="0"/>
              </a:rPr>
              <a:t>AI tự động sinh/tìm hình ảnh và hiển thị keyword minh họa đến đó theo thời gian thực (real-time)</a:t>
            </a:r>
          </a:p>
          <a:p>
            <a:r>
              <a:rPr lang="en-US">
                <a:latin typeface="Tahoma" panose="020B0604030504040204" pitchFamily="34" charset="0"/>
                <a:ea typeface="Tahoma" panose="020B0604030504040204" pitchFamily="34" charset="0"/>
                <a:cs typeface="Tahoma" panose="020B0604030504040204" pitchFamily="34" charset="0"/>
              </a:rPr>
              <a:t> Biến màn hình phía sau thành một bảng điều khiển động, không cần chuẩn bị slide tĩnh từ trước.</a:t>
            </a:r>
          </a:p>
        </p:txBody>
      </p:sp>
    </p:spTree>
    <p:extLst>
      <p:ext uri="{BB962C8B-B14F-4D97-AF65-F5344CB8AC3E}">
        <p14:creationId xmlns:p14="http://schemas.microsoft.com/office/powerpoint/2010/main" val="3854453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C91D93-014B-66D5-D263-730212C94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568B8C9-6702-8441-0D92-220DE92C8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73252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62EE0B-9E3A-1EDC-91B3-9C08BB396092}"/>
              </a:ext>
            </a:extLst>
          </p:cNvPr>
          <p:cNvSpPr>
            <a:spLocks noGrp="1"/>
          </p:cNvSpPr>
          <p:nvPr>
            <p:ph type="title"/>
          </p:nvPr>
        </p:nvSpPr>
        <p:spPr>
          <a:xfrm>
            <a:off x="521208" y="978408"/>
            <a:ext cx="8732520" cy="1463040"/>
          </a:xfrm>
        </p:spPr>
        <p:txBody>
          <a:bodyPr>
            <a:normAutofit/>
          </a:bodyPr>
          <a:lstStyle/>
          <a:p>
            <a:r>
              <a:rPr lang="en-US"/>
              <a:t>3 thách thức</a:t>
            </a:r>
          </a:p>
        </p:txBody>
      </p:sp>
      <p:sp>
        <p:nvSpPr>
          <p:cNvPr id="3" name="Content Placeholder 2">
            <a:extLst>
              <a:ext uri="{FF2B5EF4-FFF2-40B4-BE49-F238E27FC236}">
                <a16:creationId xmlns:a16="http://schemas.microsoft.com/office/drawing/2014/main" id="{22BFAA07-DF6F-96D7-D9D2-78C7E860EE41}"/>
              </a:ext>
            </a:extLst>
          </p:cNvPr>
          <p:cNvSpPr>
            <a:spLocks noGrp="1"/>
          </p:cNvSpPr>
          <p:nvPr>
            <p:ph idx="1"/>
          </p:nvPr>
        </p:nvSpPr>
        <p:spPr>
          <a:xfrm>
            <a:off x="521208" y="1944303"/>
            <a:ext cx="10403466" cy="4401633"/>
          </a:xfrm>
        </p:spPr>
        <p:txBody>
          <a:bodyPr>
            <a:normAutofit/>
          </a:bodyPr>
          <a:lstStyle/>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1.  Tốc độ xử lý:</a:t>
            </a:r>
            <a:r>
              <a:rPr lang="en-US">
                <a:latin typeface="Tahoma" panose="020B0604030504040204" pitchFamily="34" charset="0"/>
                <a:ea typeface="Tahoma" panose="020B0604030504040204" pitchFamily="34" charset="0"/>
                <a:cs typeface="Tahoma" panose="020B0604030504040204" pitchFamily="34" charset="0"/>
              </a:rPr>
              <a:t> Người nhanh hơn tốc độ xử lý AI. </a:t>
            </a:r>
          </a:p>
          <a:p>
            <a:pPr marL="0" indent="0">
              <a:lnSpc>
                <a:spcPct val="100000"/>
              </a:lnSpc>
              <a:buNone/>
            </a:pPr>
            <a:r>
              <a:rPr lang="en-US" i="1">
                <a:latin typeface="Tahoma" panose="020B0604030504040204" pitchFamily="34" charset="0"/>
                <a:ea typeface="Tahoma" panose="020B0604030504040204" pitchFamily="34" charset="0"/>
                <a:cs typeface="Tahoma" panose="020B0604030504040204" pitchFamily="34" charset="0"/>
              </a:rPr>
              <a:t>Nghe -&gt; Hiểu bối cảnh -&gt; Tìm/Sinh ảnh -&gt; Hiển thị</a:t>
            </a:r>
            <a:r>
              <a:rPr lang="en-US">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(Tổng thời gian này phải dưới 1 - 1.5 giây. Nếu mất 3-5 giây, hình ảnh hiện ra sẽ bị "lệch pha" hoàn toàn với câu nói hiện tại)</a:t>
            </a:r>
          </a:p>
          <a:p>
            <a:pPr marL="0" indent="0">
              <a:lnSpc>
                <a:spcPct val="100000"/>
              </a:lnSpc>
              <a:buNone/>
            </a:pP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2. Bối cảnh hóa: </a:t>
            </a:r>
            <a:r>
              <a:rPr lang="en-US">
                <a:latin typeface="Tahoma" panose="020B0604030504040204" pitchFamily="34" charset="0"/>
                <a:ea typeface="Tahoma" panose="020B0604030504040204" pitchFamily="34" charset="0"/>
                <a:cs typeface="Tahoma" panose="020B0604030504040204" pitchFamily="34" charset="0"/>
              </a:rPr>
              <a:t>Nếu người nói dùng từ ẩn dụ hoặc nói giảm nói tránh, AI có thể hiểu sai. </a:t>
            </a:r>
          </a:p>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(Ví dụ: </a:t>
            </a:r>
            <a:r>
              <a:rPr lang="en-US" i="1">
                <a:latin typeface="Tahoma" panose="020B0604030504040204" pitchFamily="34" charset="0"/>
                <a:ea typeface="Tahoma" panose="020B0604030504040204" pitchFamily="34" charset="0"/>
                <a:cs typeface="Tahoma" panose="020B0604030504040204" pitchFamily="34" charset="0"/>
              </a:rPr>
              <a:t>"Chúng ta đang đối mặt với một con cá mập lớn trên thị trường"</a:t>
            </a:r>
            <a:r>
              <a:rPr lang="en-US">
                <a:latin typeface="Tahoma" panose="020B0604030504040204" pitchFamily="34" charset="0"/>
                <a:ea typeface="Tahoma" panose="020B0604030504040204" pitchFamily="34" charset="0"/>
                <a:cs typeface="Tahoma" panose="020B0604030504040204" pitchFamily="34" charset="0"/>
              </a:rPr>
              <a:t>, AI hiển thị ngay hình ảnh một con cá mập trắng đại dương thay vì biểu đồ đối thủ cạnh tranh)</a:t>
            </a:r>
          </a:p>
          <a:p>
            <a:pPr marL="0" indent="0">
              <a:lnSpc>
                <a:spcPct val="100000"/>
              </a:lnSpc>
              <a:buNone/>
            </a:pPr>
            <a:endParaRPr lang="en-US">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3. Rủi ro hiển thị: </a:t>
            </a:r>
            <a:r>
              <a:rPr lang="en-US">
                <a:latin typeface="Tahoma" panose="020B0604030504040204" pitchFamily="34" charset="0"/>
                <a:ea typeface="Tahoma" panose="020B0604030504040204" pitchFamily="34" charset="0"/>
                <a:cs typeface="Tahoma" panose="020B0604030504040204" pitchFamily="34" charset="0"/>
              </a:rPr>
              <a:t>Vì là real-time, không có bước "duyệt" (human-in-the-loop). Nếu AI tìm ra một hình ảnh nhạy cảm hoặc không phù hợp với văn hóa công ty, nó sẽ đập thẳng lên màn hình lớn trước mặt mọi người.</a:t>
            </a:r>
          </a:p>
        </p:txBody>
      </p:sp>
    </p:spTree>
    <p:extLst>
      <p:ext uri="{BB962C8B-B14F-4D97-AF65-F5344CB8AC3E}">
        <p14:creationId xmlns:p14="http://schemas.microsoft.com/office/powerpoint/2010/main" val="4279598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12E74-62F1-6536-BFE2-C2F905FD810D}"/>
              </a:ext>
            </a:extLst>
          </p:cNvPr>
          <p:cNvSpPr>
            <a:spLocks noGrp="1"/>
          </p:cNvSpPr>
          <p:nvPr>
            <p:ph type="title"/>
          </p:nvPr>
        </p:nvSpPr>
        <p:spPr/>
        <p:txBody>
          <a:bodyPr/>
          <a:lstStyle/>
          <a:p>
            <a:r>
              <a:rPr lang="en-US"/>
              <a:t>Chiến lược tiếp cận</a:t>
            </a:r>
          </a:p>
        </p:txBody>
      </p:sp>
      <p:graphicFrame>
        <p:nvGraphicFramePr>
          <p:cNvPr id="5" name="Content Placeholder 4">
            <a:extLst>
              <a:ext uri="{FF2B5EF4-FFF2-40B4-BE49-F238E27FC236}">
                <a16:creationId xmlns:a16="http://schemas.microsoft.com/office/drawing/2014/main" id="{84B1B6AD-9DDB-9C40-9534-6C0F2AE21EEB}"/>
              </a:ext>
            </a:extLst>
          </p:cNvPr>
          <p:cNvGraphicFramePr>
            <a:graphicFrameLocks noGrp="1"/>
          </p:cNvGraphicFramePr>
          <p:nvPr>
            <p:ph idx="1"/>
            <p:extLst>
              <p:ext uri="{D42A27DB-BD31-4B8C-83A1-F6EECF244321}">
                <p14:modId xmlns:p14="http://schemas.microsoft.com/office/powerpoint/2010/main" val="2554030286"/>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3489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0870F0-188B-8AA6-B542-08577F6C414F}"/>
              </a:ext>
            </a:extLst>
          </p:cNvPr>
          <p:cNvSpPr>
            <a:spLocks noGrp="1"/>
          </p:cNvSpPr>
          <p:nvPr>
            <p:ph type="title"/>
          </p:nvPr>
        </p:nvSpPr>
        <p:spPr>
          <a:xfrm>
            <a:off x="521208" y="978408"/>
            <a:ext cx="6281928" cy="1463040"/>
          </a:xfrm>
        </p:spPr>
        <p:txBody>
          <a:bodyPr>
            <a:normAutofit/>
          </a:bodyPr>
          <a:lstStyle/>
          <a:p>
            <a:r>
              <a:rPr lang="en-US">
                <a:latin typeface="Tahoma" panose="020B0604030504040204" pitchFamily="34" charset="0"/>
                <a:ea typeface="Tahoma" panose="020B0604030504040204" pitchFamily="34" charset="0"/>
                <a:cs typeface="Tahoma" panose="020B0604030504040204" pitchFamily="34" charset="0"/>
              </a:rPr>
              <a:t>Action Plan </a:t>
            </a:r>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635E290-DF74-43F6-B155-D8AE2BE0FD40}"/>
              </a:ext>
            </a:extLst>
          </p:cNvPr>
          <p:cNvSpPr>
            <a:spLocks noGrp="1"/>
          </p:cNvSpPr>
          <p:nvPr>
            <p:ph idx="1"/>
          </p:nvPr>
        </p:nvSpPr>
        <p:spPr>
          <a:xfrm>
            <a:off x="521208" y="2578608"/>
            <a:ext cx="6281928" cy="3767328"/>
          </a:xfrm>
        </p:spPr>
        <p:txBody>
          <a:bodyPr>
            <a:normAutofit/>
          </a:bodyPr>
          <a:lstStyle/>
          <a:p>
            <a:endParaRPr lang="en-US"/>
          </a:p>
        </p:txBody>
      </p:sp>
      <p:pic>
        <p:nvPicPr>
          <p:cNvPr id="7" name="Graphic 6" descr="Checkmark">
            <a:extLst>
              <a:ext uri="{FF2B5EF4-FFF2-40B4-BE49-F238E27FC236}">
                <a16:creationId xmlns:a16="http://schemas.microsoft.com/office/drawing/2014/main" id="{ACAAECC9-7B6E-19A8-FE31-F3BBD9D644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7668" y="1994644"/>
            <a:ext cx="4356461" cy="4356461"/>
          </a:xfrm>
          <a:prstGeom prst="rect">
            <a:avLst/>
          </a:prstGeom>
        </p:spPr>
      </p:pic>
    </p:spTree>
    <p:extLst>
      <p:ext uri="{BB962C8B-B14F-4D97-AF65-F5344CB8AC3E}">
        <p14:creationId xmlns:p14="http://schemas.microsoft.com/office/powerpoint/2010/main" val="653929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4C14E14-BFC5-F8E3-F0D0-2A79A65E0862}"/>
              </a:ext>
            </a:extLst>
          </p:cNvPr>
          <p:cNvSpPr>
            <a:spLocks noGrp="1"/>
          </p:cNvSpPr>
          <p:nvPr>
            <p:ph type="title"/>
          </p:nvPr>
        </p:nvSpPr>
        <p:spPr>
          <a:xfrm>
            <a:off x="521208" y="978408"/>
            <a:ext cx="4672584" cy="1783080"/>
          </a:xfrm>
        </p:spPr>
        <p:txBody>
          <a:bodyPr>
            <a:normAutofit/>
          </a:bodyPr>
          <a:lstStyle/>
          <a:p>
            <a:r>
              <a:rPr lang="en-US"/>
              <a:t>Tech 1  - Thu</a:t>
            </a:r>
          </a:p>
        </p:txBody>
      </p:sp>
      <p:sp>
        <p:nvSpPr>
          <p:cNvPr id="23" name="Rectangle 22">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1" name="Rectangle 20">
            <a:extLst>
              <a:ext uri="{FF2B5EF4-FFF2-40B4-BE49-F238E27FC236}">
                <a16:creationId xmlns:a16="http://schemas.microsoft.com/office/drawing/2014/main" id="{759AF1ED-B4DF-4FC4-0966-1A758E6CA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5582" y="611650"/>
            <a:ext cx="583387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Graphic 6" descr="Fingerprint">
            <a:extLst>
              <a:ext uri="{FF2B5EF4-FFF2-40B4-BE49-F238E27FC236}">
                <a16:creationId xmlns:a16="http://schemas.microsoft.com/office/drawing/2014/main" id="{F0F67B7B-026D-5330-106D-879D9EE330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7867" y="3152503"/>
            <a:ext cx="3193501" cy="3193501"/>
          </a:xfrm>
          <a:prstGeom prst="rect">
            <a:avLst/>
          </a:prstGeom>
        </p:spPr>
      </p:pic>
      <p:sp>
        <p:nvSpPr>
          <p:cNvPr id="3" name="Content Placeholder 2">
            <a:extLst>
              <a:ext uri="{FF2B5EF4-FFF2-40B4-BE49-F238E27FC236}">
                <a16:creationId xmlns:a16="http://schemas.microsoft.com/office/drawing/2014/main" id="{73E8C480-FFAB-2914-8FCD-6620A292C7A8}"/>
              </a:ext>
            </a:extLst>
          </p:cNvPr>
          <p:cNvSpPr>
            <a:spLocks noGrp="1"/>
          </p:cNvSpPr>
          <p:nvPr>
            <p:ph idx="1"/>
          </p:nvPr>
        </p:nvSpPr>
        <p:spPr>
          <a:xfrm>
            <a:off x="5843016" y="978408"/>
            <a:ext cx="5833872" cy="5367528"/>
          </a:xfrm>
        </p:spPr>
        <p:txBody>
          <a:bodyPr>
            <a:normAutofit/>
          </a:bodyPr>
          <a:lstStyle/>
          <a:p>
            <a:pPr marL="342900" indent="-342900">
              <a:lnSpc>
                <a:spcPct val="100000"/>
              </a:lnSpc>
              <a:buAutoNum type="arabicPeriod"/>
            </a:pPr>
            <a:r>
              <a:rPr lang="en-US" sz="1700" b="1">
                <a:latin typeface="Tahoma" panose="020B0604030504040204" pitchFamily="34" charset="0"/>
                <a:ea typeface="Tahoma" panose="020B0604030504040204" pitchFamily="34" charset="0"/>
                <a:cs typeface="Tahoma" panose="020B0604030504040204" pitchFamily="34" charset="0"/>
              </a:rPr>
              <a:t>Thiết lập luồng triển khai thư viện Speech-to-Text chạy theo cơ chế </a:t>
            </a:r>
            <a:r>
              <a:rPr lang="en-US" sz="1700" b="1" i="1">
                <a:latin typeface="Tahoma" panose="020B0604030504040204" pitchFamily="34" charset="0"/>
                <a:ea typeface="Tahoma" panose="020B0604030504040204" pitchFamily="34" charset="0"/>
                <a:cs typeface="Tahoma" panose="020B0604030504040204" pitchFamily="34" charset="0"/>
              </a:rPr>
              <a:t>Streaming</a:t>
            </a:r>
            <a:r>
              <a:rPr lang="en-US" sz="1700" b="1">
                <a:latin typeface="Tahoma" panose="020B0604030504040204" pitchFamily="34" charset="0"/>
                <a:ea typeface="Tahoma" panose="020B0604030504040204" pitchFamily="34" charset="0"/>
                <a:cs typeface="Tahoma" panose="020B0604030504040204" pitchFamily="34" charset="0"/>
              </a:rPr>
              <a:t> </a:t>
            </a:r>
            <a:r>
              <a:rPr lang="en-US" sz="1700">
                <a:latin typeface="Tahoma" panose="020B0604030504040204" pitchFamily="34" charset="0"/>
                <a:ea typeface="Tahoma" panose="020B0604030504040204" pitchFamily="34" charset="0"/>
                <a:cs typeface="Tahoma" panose="020B0604030504040204" pitchFamily="34" charset="0"/>
              </a:rPr>
              <a:t>(vừa nói vừa dịch, không đợi hết câu). </a:t>
            </a:r>
          </a:p>
          <a:p>
            <a:pPr marL="0" indent="0">
              <a:lnSpc>
                <a:spcPct val="100000"/>
              </a:lnSpc>
              <a:buNone/>
            </a:pPr>
            <a:r>
              <a:rPr lang="en-US" sz="1700">
                <a:latin typeface="Tahoma" panose="020B0604030504040204" pitchFamily="34" charset="0"/>
                <a:ea typeface="Tahoma" panose="020B0604030504040204" pitchFamily="34" charset="0"/>
                <a:cs typeface="Tahoma" panose="020B0604030504040204" pitchFamily="34" charset="0"/>
              </a:rPr>
              <a:t>Khuyến nghị dùng Deepgram API hoặc OpenAI Whisper Live để tối ưu tiếng Việt. Sử dụng các model có độ trễ thấp (như OpenAI Whisper Live hoặc Deepgram) để dịch giọng nói thành văn bản dạng cuốn chiếu (typing keyword).</a:t>
            </a:r>
          </a:p>
          <a:p>
            <a:pPr marL="0" indent="0">
              <a:lnSpc>
                <a:spcPct val="100000"/>
              </a:lnSpc>
              <a:buNone/>
            </a:pPr>
            <a:r>
              <a:rPr lang="en-US" sz="1700" b="1">
                <a:highlight>
                  <a:srgbClr val="FFFF00"/>
                </a:highlight>
                <a:latin typeface="Tahoma" panose="020B0604030504040204" pitchFamily="34" charset="0"/>
                <a:ea typeface="Tahoma" panose="020B0604030504040204" pitchFamily="34" charset="0"/>
                <a:cs typeface="Tahoma" panose="020B0604030504040204" pitchFamily="34" charset="0"/>
              </a:rPr>
              <a:t>KPI nghiệm thu: </a:t>
            </a:r>
            <a:r>
              <a:rPr lang="en-US" sz="1700">
                <a:latin typeface="Tahoma" panose="020B0604030504040204" pitchFamily="34" charset="0"/>
                <a:ea typeface="Tahoma" panose="020B0604030504040204" pitchFamily="34" charset="0"/>
                <a:cs typeface="Tahoma" panose="020B0604030504040204" pitchFamily="34" charset="0"/>
              </a:rPr>
              <a:t>Chuyển đổi giọng nói thành chữ với độ trễ &lt; 500ms (nửa giây).</a:t>
            </a:r>
            <a:r>
              <a:rPr lang="en-US" sz="1700" i="1">
                <a:latin typeface="Tahoma" panose="020B0604030504040204" pitchFamily="34" charset="0"/>
                <a:ea typeface="Tahoma" panose="020B0604030504040204" pitchFamily="34" charset="0"/>
                <a:cs typeface="Tahoma" panose="020B0604030504040204" pitchFamily="34" charset="0"/>
              </a:rPr>
              <a:t> </a:t>
            </a:r>
            <a:r>
              <a:rPr lang="en-US" sz="1700">
                <a:latin typeface="Tahoma" panose="020B0604030504040204" pitchFamily="34" charset="0"/>
                <a:ea typeface="Tahoma" panose="020B0604030504040204" pitchFamily="34" charset="0"/>
                <a:cs typeface="Tahoma" panose="020B0604030504040204" pitchFamily="34" charset="0"/>
              </a:rPr>
              <a:t>Tech 1 demo được một màn hình console: nói đến đâu, chữ xuất hiện trên màn hình đến đó (độ trễ từ lúc dứt tiếng đến lúc hiện chữ phải &lt; 500ms).</a:t>
            </a:r>
          </a:p>
          <a:p>
            <a:pPr marL="0" indent="0">
              <a:lnSpc>
                <a:spcPct val="100000"/>
              </a:lnSpc>
              <a:buNone/>
            </a:pPr>
            <a:r>
              <a:rPr lang="en-US" sz="1700" b="1">
                <a:latin typeface="Tahoma" panose="020B0604030504040204" pitchFamily="34" charset="0"/>
                <a:ea typeface="Tahoma" panose="020B0604030504040204" pitchFamily="34" charset="0"/>
                <a:cs typeface="Tahoma" panose="020B0604030504040204" pitchFamily="34" charset="0"/>
              </a:rPr>
              <a:t>2. Trích xuất Từ khóa &amp; Ý định (Keyword &amp; Intent Extraction)</a:t>
            </a:r>
          </a:p>
          <a:p>
            <a:pPr marL="0" indent="0">
              <a:lnSpc>
                <a:spcPct val="100000"/>
              </a:lnSpc>
              <a:buNone/>
            </a:pPr>
            <a:r>
              <a:rPr lang="en-US" sz="1700" i="1">
                <a:latin typeface="Tahoma" panose="020B0604030504040204" pitchFamily="34" charset="0"/>
                <a:ea typeface="Tahoma" panose="020B0604030504040204" pitchFamily="34" charset="0"/>
                <a:cs typeface="Tahoma" panose="020B0604030504040204" pitchFamily="34" charset="0"/>
              </a:rPr>
              <a:t>Chi tiết:</a:t>
            </a:r>
            <a:r>
              <a:rPr lang="en-US" sz="1700">
                <a:latin typeface="Tahoma" panose="020B0604030504040204" pitchFamily="34" charset="0"/>
                <a:ea typeface="Tahoma" panose="020B0604030504040204" pitchFamily="34" charset="0"/>
                <a:cs typeface="Tahoma" panose="020B0604030504040204" pitchFamily="34" charset="0"/>
              </a:rPr>
              <a:t> Cấu hình một LLM nhỏ (như GPT-4o-mini hoặc Llama-3-8B) nhận luồng chữ từ STT, liên tục trích xuất ra 1-2 "Keyword cốt lõi" hoặc "Ý định hành động" (Intent) sau mỗi 3-5 giây.</a:t>
            </a:r>
          </a:p>
          <a:p>
            <a:pPr marL="0" indent="0">
              <a:lnSpc>
                <a:spcPct val="100000"/>
              </a:lnSpc>
              <a:buNone/>
            </a:pPr>
            <a:endParaRPr lang="en-US" sz="17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50706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4" name="Rectangle 23">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2" name="Rectangle 2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4E33A95-C67D-2BF2-F3DD-7ADEB2BCAEA7}"/>
              </a:ext>
            </a:extLst>
          </p:cNvPr>
          <p:cNvSpPr>
            <a:spLocks noGrp="1"/>
          </p:cNvSpPr>
          <p:nvPr>
            <p:ph type="title"/>
          </p:nvPr>
        </p:nvSpPr>
        <p:spPr>
          <a:xfrm>
            <a:off x="521208" y="978408"/>
            <a:ext cx="3410712" cy="5376672"/>
          </a:xfrm>
        </p:spPr>
        <p:txBody>
          <a:bodyPr>
            <a:normAutofit/>
          </a:bodyPr>
          <a:lstStyle/>
          <a:p>
            <a:r>
              <a:rPr lang="en-US" sz="4000"/>
              <a:t>Tech 2 (Chuyên về Truy xuất &amp; Hiển thị)</a:t>
            </a:r>
            <a:br>
              <a:rPr lang="en-US" sz="4000"/>
            </a:br>
            <a:endParaRPr lang="en-US" sz="4000"/>
          </a:p>
        </p:txBody>
      </p:sp>
      <p:sp>
        <p:nvSpPr>
          <p:cNvPr id="3" name="Content Placeholder 2">
            <a:extLst>
              <a:ext uri="{FF2B5EF4-FFF2-40B4-BE49-F238E27FC236}">
                <a16:creationId xmlns:a16="http://schemas.microsoft.com/office/drawing/2014/main" id="{6871E842-08AB-CC45-58F8-3879AEB85215}"/>
              </a:ext>
            </a:extLst>
          </p:cNvPr>
          <p:cNvSpPr>
            <a:spLocks noGrp="1"/>
          </p:cNvSpPr>
          <p:nvPr>
            <p:ph idx="1"/>
          </p:nvPr>
        </p:nvSpPr>
        <p:spPr>
          <a:xfrm>
            <a:off x="4636008" y="1042416"/>
            <a:ext cx="7031736" cy="5312664"/>
          </a:xfrm>
        </p:spPr>
        <p:txBody>
          <a:bodyPr>
            <a:normAutofit/>
          </a:bodyPr>
          <a:lstStyle/>
          <a:p>
            <a:pPr marL="0" indent="0">
              <a:lnSpc>
                <a:spcPct val="100000"/>
              </a:lnSpc>
              <a:buNone/>
            </a:pPr>
            <a:r>
              <a:rPr lang="en-US">
                <a:latin typeface="Tahoma" panose="020B0604030504040204" pitchFamily="34" charset="0"/>
                <a:ea typeface="Tahoma" panose="020B0604030504040204" pitchFamily="34" charset="0"/>
                <a:cs typeface="Tahoma" panose="020B0604030504040204" pitchFamily="34" charset="0"/>
              </a:rPr>
              <a:t>Mục tiêu: Xử lý luồng "Tìm" và "Hiển thị" khớp với tốc độ của Tech 1.</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1. Xây dựng Vector Database cho Kho ảnh</a:t>
            </a:r>
          </a:p>
          <a:p>
            <a:pPr marL="0" indent="0">
              <a:lnSpc>
                <a:spcPct val="100000"/>
              </a:lnSpc>
              <a:buNone/>
            </a:pPr>
            <a:r>
              <a:rPr lang="en-US" i="1">
                <a:latin typeface="Tahoma" panose="020B0604030504040204" pitchFamily="34" charset="0"/>
                <a:ea typeface="Tahoma" panose="020B0604030504040204" pitchFamily="34" charset="0"/>
                <a:cs typeface="Tahoma" panose="020B0604030504040204" pitchFamily="34" charset="0"/>
              </a:rPr>
              <a:t>Chi tiết:</a:t>
            </a:r>
            <a:r>
              <a:rPr lang="en-US">
                <a:latin typeface="Tahoma" panose="020B0604030504040204" pitchFamily="34" charset="0"/>
                <a:ea typeface="Tahoma" panose="020B0604030504040204" pitchFamily="34" charset="0"/>
                <a:cs typeface="Tahoma" panose="020B0604030504040204" pitchFamily="34" charset="0"/>
              </a:rPr>
              <a:t> Lấy kho ảnh từ Bạn (PM), dùng model Embedding để vector hóa các đoạn mô tả (Metadata/Tags) của các bức ảnh đó, nạp vào một Vector DB nhẹ (như </a:t>
            </a:r>
            <a:r>
              <a:rPr lang="en-US" b="1">
                <a:latin typeface="Tahoma" panose="020B0604030504040204" pitchFamily="34" charset="0"/>
                <a:ea typeface="Tahoma" panose="020B0604030504040204" pitchFamily="34" charset="0"/>
                <a:cs typeface="Tahoma" panose="020B0604030504040204" pitchFamily="34" charset="0"/>
              </a:rPr>
              <a:t>ChromaDB</a:t>
            </a:r>
            <a:r>
              <a:rPr lang="en-US">
                <a:latin typeface="Tahoma" panose="020B0604030504040204" pitchFamily="34" charset="0"/>
                <a:ea typeface="Tahoma" panose="020B0604030504040204" pitchFamily="34" charset="0"/>
                <a:cs typeface="Tahoma" panose="020B0604030504040204" pitchFamily="34" charset="0"/>
              </a:rPr>
              <a:t> hoặc </a:t>
            </a:r>
            <a:r>
              <a:rPr lang="en-US" b="1">
                <a:latin typeface="Tahoma" panose="020B0604030504040204" pitchFamily="34" charset="0"/>
                <a:ea typeface="Tahoma" panose="020B0604030504040204" pitchFamily="34" charset="0"/>
                <a:cs typeface="Tahoma" panose="020B0604030504040204" pitchFamily="34" charset="0"/>
              </a:rPr>
              <a:t>Pinecone</a:t>
            </a:r>
            <a:r>
              <a:rPr lang="en-US">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i="1">
                <a:latin typeface="Tahoma" panose="020B0604030504040204" pitchFamily="34" charset="0"/>
                <a:ea typeface="Tahoma" panose="020B0604030504040204" pitchFamily="34" charset="0"/>
                <a:cs typeface="Tahoma" panose="020B0604030504040204" pitchFamily="34" charset="0"/>
              </a:rPr>
              <a:t>Cách nghiệm thu:</a:t>
            </a:r>
            <a:r>
              <a:rPr lang="en-US">
                <a:latin typeface="Tahoma" panose="020B0604030504040204" pitchFamily="34" charset="0"/>
                <a:ea typeface="Tahoma" panose="020B0604030504040204" pitchFamily="34" charset="0"/>
                <a:cs typeface="Tahoma" panose="020B0604030504040204" pitchFamily="34" charset="0"/>
              </a:rPr>
              <a:t> Gõ thử một từ khóa vào hệ thống, Tech 2 phải truy xuất ra đúng bức ảnh có nội dung tương tự trong kho dữ liệu mẫu.</a:t>
            </a:r>
          </a:p>
          <a:p>
            <a:pPr marL="0" indent="0">
              <a:lnSpc>
                <a:spcPct val="100000"/>
              </a:lnSpc>
              <a:buNone/>
            </a:pPr>
            <a:r>
              <a:rPr lang="en-US" b="1">
                <a:latin typeface="Tahoma" panose="020B0604030504040204" pitchFamily="34" charset="0"/>
                <a:ea typeface="Tahoma" panose="020B0604030504040204" pitchFamily="34" charset="0"/>
                <a:cs typeface="Tahoma" panose="020B0604030504040204" pitchFamily="34" charset="0"/>
              </a:rPr>
              <a:t>2. Phát triển Giao diện Real-time </a:t>
            </a:r>
          </a:p>
          <a:p>
            <a:pPr marL="0" indent="0">
              <a:lnSpc>
                <a:spcPct val="100000"/>
              </a:lnSpc>
              <a:buNone/>
            </a:pPr>
            <a:r>
              <a:rPr lang="en-US" i="1">
                <a:latin typeface="Tahoma" panose="020B0604030504040204" pitchFamily="34" charset="0"/>
                <a:ea typeface="Tahoma" panose="020B0604030504040204" pitchFamily="34" charset="0"/>
                <a:cs typeface="Tahoma" panose="020B0604030504040204" pitchFamily="34" charset="0"/>
              </a:rPr>
              <a:t>Chi tiết:</a:t>
            </a:r>
            <a:r>
              <a:rPr lang="en-US">
                <a:latin typeface="Tahoma" panose="020B0604030504040204" pitchFamily="34" charset="0"/>
                <a:ea typeface="Tahoma" panose="020B0604030504040204" pitchFamily="34" charset="0"/>
                <a:cs typeface="Tahoma" panose="020B0604030504040204" pitchFamily="34" charset="0"/>
              </a:rPr>
              <a:t> Dùng WebSocket để kết nối với Backend của Tech 1. Thiết kế hiệu ứng chữ chạy cuốn chiếu (Typing Effect) trên màn hình và khung hiển thị ảnh động tự động thay đổi không bị giật lag.</a:t>
            </a:r>
          </a:p>
          <a:p>
            <a:pPr marL="0" indent="0">
              <a:lnSpc>
                <a:spcPct val="100000"/>
              </a:lnSpc>
              <a:buNone/>
            </a:pPr>
            <a:r>
              <a:rPr lang="en-US" i="1">
                <a:latin typeface="Tahoma" panose="020B0604030504040204" pitchFamily="34" charset="0"/>
                <a:ea typeface="Tahoma" panose="020B0604030504040204" pitchFamily="34" charset="0"/>
                <a:cs typeface="Tahoma" panose="020B0604030504040204" pitchFamily="34" charset="0"/>
              </a:rPr>
              <a:t>Cách nghiệm thu:</a:t>
            </a:r>
            <a:r>
              <a:rPr lang="en-US">
                <a:latin typeface="Tahoma" panose="020B0604030504040204" pitchFamily="34" charset="0"/>
                <a:ea typeface="Tahoma" panose="020B0604030504040204" pitchFamily="34" charset="0"/>
                <a:cs typeface="Tahoma" panose="020B0604030504040204" pitchFamily="34" charset="0"/>
              </a:rPr>
              <a:t> Chữ và ảnh phải tự động đẩy lên giao diện web mà không cần bấm F5 (Reload) trang.</a:t>
            </a:r>
          </a:p>
          <a:p>
            <a:pPr marL="0" indent="0">
              <a:lnSpc>
                <a:spcPct val="100000"/>
              </a:lnSpc>
              <a:buNone/>
            </a:pPr>
            <a:endParaRPr lang="en-US">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77295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30465A-D874-4B24-3186-C20A1D9FA2AE}"/>
              </a:ext>
            </a:extLst>
          </p:cNvPr>
          <p:cNvSpPr>
            <a:spLocks noGrp="1"/>
          </p:cNvSpPr>
          <p:nvPr>
            <p:ph type="title"/>
          </p:nvPr>
        </p:nvSpPr>
        <p:spPr>
          <a:xfrm>
            <a:off x="521208" y="978408"/>
            <a:ext cx="5020056" cy="5376672"/>
          </a:xfrm>
        </p:spPr>
        <p:txBody>
          <a:bodyPr>
            <a:normAutofit/>
          </a:bodyPr>
          <a:lstStyle/>
          <a:p>
            <a:r>
              <a:rPr lang="en-US"/>
              <a:t>Quản lý task - TA</a:t>
            </a:r>
          </a:p>
        </p:txBody>
      </p:sp>
      <p:sp>
        <p:nvSpPr>
          <p:cNvPr id="3" name="Content Placeholder 2">
            <a:extLst>
              <a:ext uri="{FF2B5EF4-FFF2-40B4-BE49-F238E27FC236}">
                <a16:creationId xmlns:a16="http://schemas.microsoft.com/office/drawing/2014/main" id="{3EC89641-0BEC-A8F8-0815-E950716C2C05}"/>
              </a:ext>
            </a:extLst>
          </p:cNvPr>
          <p:cNvSpPr>
            <a:spLocks noGrp="1"/>
          </p:cNvSpPr>
          <p:nvPr>
            <p:ph idx="1"/>
          </p:nvPr>
        </p:nvSpPr>
        <p:spPr>
          <a:xfrm>
            <a:off x="6665976" y="1042416"/>
            <a:ext cx="5010912" cy="5312664"/>
          </a:xfrm>
        </p:spPr>
        <p:txBody>
          <a:bodyPr>
            <a:normAutofit/>
          </a:bodyPr>
          <a:lstStyle/>
          <a:p>
            <a:pPr marL="0" indent="0">
              <a:buNone/>
            </a:pPr>
            <a:r>
              <a:rPr lang="en-US">
                <a:latin typeface="Tahoma" panose="020B0604030504040204" pitchFamily="34" charset="0"/>
                <a:ea typeface="Tahoma" panose="020B0604030504040204" pitchFamily="34" charset="0"/>
                <a:cs typeface="Tahoma" panose="020B0604030504040204" pitchFamily="34" charset="0"/>
              </a:rPr>
              <a:t>1. Chuẩn hóa kho dữ liệu mẫu – check lỗi, sửa dữ liệu (logo, biểu đồ doanh thu, ảnh stock văn hóa, icon…) </a:t>
            </a:r>
          </a:p>
          <a:p>
            <a:pPr marL="0" indent="0">
              <a:buNone/>
            </a:pPr>
            <a:r>
              <a:rPr lang="en-US">
                <a:latin typeface="Tahoma" panose="020B0604030504040204" pitchFamily="34" charset="0"/>
                <a:ea typeface="Tahoma" panose="020B0604030504040204" pitchFamily="34" charset="0"/>
                <a:cs typeface="Tahoma" panose="020B0604030504040204" pitchFamily="34" charset="0"/>
              </a:rPr>
              <a:t>2. Định hình Giao diện Người dùng (UI/UX Mockup): Vẽ nháp luồng hiển thị. Màn hình của người nói/trợ lý sẽ thấy gì (Chữ đang chạy + 3 ảnh gợi ý + nút bấm "Duyệt lên màn lớn").</a:t>
            </a:r>
          </a:p>
          <a:p>
            <a:pPr marL="0" indent="0">
              <a:buNone/>
            </a:pPr>
            <a:r>
              <a:rPr lang="en-US">
                <a:latin typeface="Tahoma" panose="020B0604030504040204" pitchFamily="34" charset="0"/>
                <a:ea typeface="Tahoma" panose="020B0604030504040204" pitchFamily="34" charset="0"/>
                <a:cs typeface="Tahoma" panose="020B0604030504040204" pitchFamily="34" charset="0"/>
              </a:rPr>
              <a:t> Màn hình máy chiếu lớn chỉ hiện chữ và ảnh đã duyệt.</a:t>
            </a:r>
          </a:p>
        </p:txBody>
      </p:sp>
    </p:spTree>
    <p:extLst>
      <p:ext uri="{BB962C8B-B14F-4D97-AF65-F5344CB8AC3E}">
        <p14:creationId xmlns:p14="http://schemas.microsoft.com/office/powerpoint/2010/main" val="2890197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D9EC4-59FB-2A65-8243-1FFEDB6B9F7C}"/>
              </a:ext>
            </a:extLst>
          </p:cNvPr>
          <p:cNvSpPr>
            <a:spLocks noGrp="1"/>
          </p:cNvSpPr>
          <p:nvPr>
            <p:ph type="title"/>
          </p:nvPr>
        </p:nvSpPr>
        <p:spPr/>
        <p:txBody>
          <a:bodyPr/>
          <a:lstStyle/>
          <a:p>
            <a:r>
              <a:rPr lang="en-US"/>
              <a:t>Kênh tham khảo youtube</a:t>
            </a:r>
          </a:p>
        </p:txBody>
      </p:sp>
      <p:sp>
        <p:nvSpPr>
          <p:cNvPr id="3" name="Content Placeholder 2">
            <a:extLst>
              <a:ext uri="{FF2B5EF4-FFF2-40B4-BE49-F238E27FC236}">
                <a16:creationId xmlns:a16="http://schemas.microsoft.com/office/drawing/2014/main" id="{DDB52A5A-7DAF-D1E8-4F68-35298409DA9A}"/>
              </a:ext>
            </a:extLst>
          </p:cNvPr>
          <p:cNvSpPr>
            <a:spLocks noGrp="1"/>
          </p:cNvSpPr>
          <p:nvPr>
            <p:ph idx="1"/>
          </p:nvPr>
        </p:nvSpPr>
        <p:spPr/>
        <p:txBody>
          <a:bodyPr/>
          <a:lstStyle/>
          <a:p>
            <a:r>
              <a:rPr lang="en-US" i="1">
                <a:latin typeface="Tahoma" panose="020B0604030504040204" pitchFamily="34" charset="0"/>
                <a:ea typeface="Tahoma" panose="020B0604030504040204" pitchFamily="34" charset="0"/>
                <a:cs typeface="Tahoma" panose="020B0604030504040204" pitchFamily="34" charset="0"/>
              </a:rPr>
              <a:t>Kênh "Greg Kamradt (Data Independent)":</a:t>
            </a:r>
            <a:r>
              <a:rPr lang="en-US">
                <a:latin typeface="Tahoma" panose="020B0604030504040204" pitchFamily="34" charset="0"/>
                <a:ea typeface="Tahoma" panose="020B0604030504040204" pitchFamily="34" charset="0"/>
                <a:cs typeface="Tahoma" panose="020B0604030504040204" pitchFamily="34" charset="0"/>
              </a:rPr>
              <a:t> Chuyên các video thực tế về RAG nâng cao, cách xử lý dữ liệu và bóc tách từ khóa rất trực quan cho PM.</a:t>
            </a:r>
          </a:p>
          <a:p>
            <a:r>
              <a:rPr lang="en-US" i="1">
                <a:latin typeface="Tahoma" panose="020B0604030504040204" pitchFamily="34" charset="0"/>
                <a:ea typeface="Tahoma" panose="020B0604030504040204" pitchFamily="34" charset="0"/>
                <a:cs typeface="Tahoma" panose="020B0604030504040204" pitchFamily="34" charset="0"/>
              </a:rPr>
              <a:t>Kênh "ByteByteGo" (của Alex Xu):</a:t>
            </a:r>
            <a:r>
              <a:rPr lang="en-US">
                <a:latin typeface="Tahoma" panose="020B0604030504040204" pitchFamily="34" charset="0"/>
                <a:ea typeface="Tahoma" panose="020B0604030504040204" pitchFamily="34" charset="0"/>
                <a:cs typeface="Tahoma" panose="020B0604030504040204" pitchFamily="34" charset="0"/>
              </a:rPr>
              <a:t> Giải thích kiến trúc hệ thống (System Design) dạng chuyển động hoạt hình. Hãy tìm video về </a:t>
            </a:r>
            <a:r>
              <a:rPr lang="en-US" i="1">
                <a:latin typeface="Tahoma" panose="020B0604030504040204" pitchFamily="34" charset="0"/>
                <a:ea typeface="Tahoma" panose="020B0604030504040204" pitchFamily="34" charset="0"/>
                <a:cs typeface="Tahoma" panose="020B0604030504040204" pitchFamily="34" charset="0"/>
              </a:rPr>
              <a:t>Real-time Chat Application Architecture</a:t>
            </a:r>
            <a:r>
              <a:rPr lang="en-US">
                <a:latin typeface="Tahoma" panose="020B0604030504040204" pitchFamily="34" charset="0"/>
                <a:ea typeface="Tahoma" panose="020B0604030504040204" pitchFamily="34" charset="0"/>
                <a:cs typeface="Tahoma" panose="020B0604030504040204" pitchFamily="34" charset="0"/>
              </a:rPr>
              <a:t> hoặc </a:t>
            </a:r>
            <a:r>
              <a:rPr lang="en-US" i="1">
                <a:latin typeface="Tahoma" panose="020B0604030504040204" pitchFamily="34" charset="0"/>
                <a:ea typeface="Tahoma" panose="020B0604030504040204" pitchFamily="34" charset="0"/>
                <a:cs typeface="Tahoma" panose="020B0604030504040204" pitchFamily="34" charset="0"/>
              </a:rPr>
              <a:t>WebSockets</a:t>
            </a:r>
            <a:r>
              <a:rPr lang="en-US">
                <a:latin typeface="Tahoma" panose="020B0604030504040204" pitchFamily="34" charset="0"/>
                <a:ea typeface="Tahoma" panose="020B0604030504040204" pitchFamily="34" charset="0"/>
                <a:cs typeface="Tahoma" panose="020B0604030504040204" pitchFamily="34" charset="0"/>
              </a:rPr>
              <a:t> để hiểu cách hệ thống đẩy dữ liệu real-time.</a:t>
            </a:r>
          </a:p>
        </p:txBody>
      </p:sp>
    </p:spTree>
    <p:extLst>
      <p:ext uri="{BB962C8B-B14F-4D97-AF65-F5344CB8AC3E}">
        <p14:creationId xmlns:p14="http://schemas.microsoft.com/office/powerpoint/2010/main" val="5290402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3421C2F09A4BEA46A5B5AE4284068530" ma:contentTypeVersion="19" ma:contentTypeDescription="Tạo tài liệu mới." ma:contentTypeScope="" ma:versionID="0105140007f2305d9417dfbf075ce41f">
  <xsd:schema xmlns:xsd="http://www.w3.org/2001/XMLSchema" xmlns:xs="http://www.w3.org/2001/XMLSchema" xmlns:p="http://schemas.microsoft.com/office/2006/metadata/properties" xmlns:ns2="300fa37b-2a09-4011-a0db-c11ba6d392f7" xmlns:ns3="a16b777b-eb0b-4844-aa73-ac2af43907aa" targetNamespace="http://schemas.microsoft.com/office/2006/metadata/properties" ma:root="true" ma:fieldsID="a71f74b658475c2068fd45b507226f2a" ns2:_="" ns3:_="">
    <xsd:import namespace="300fa37b-2a09-4011-a0db-c11ba6d392f7"/>
    <xsd:import namespace="a16b777b-eb0b-4844-aa73-ac2af43907a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0fa37b-2a09-4011-a0db-c11ba6d392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Location" ma:index="11" nillable="true" ma:displayName="Location" ma:internalName="MediaServiceLocatio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Thẻ Hình ảnh" ma:readOnly="false" ma:fieldId="{5cf76f15-5ced-4ddc-b409-7134ff3c332f}" ma:taxonomyMulti="true" ma:sspId="dc0e7fee-77db-48dd-853a-28ca3f641761"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6b777b-eb0b-4844-aa73-ac2af43907aa" elementFormDefault="qualified">
    <xsd:import namespace="http://schemas.microsoft.com/office/2006/documentManagement/types"/>
    <xsd:import namespace="http://schemas.microsoft.com/office/infopath/2007/PartnerControls"/>
    <xsd:element name="SharedWithUsers" ma:index="15"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Chia sẻ Có Chi tiết" ma:internalName="SharedWithDetails" ma:readOnly="true">
      <xsd:simpleType>
        <xsd:restriction base="dms:Note">
          <xsd:maxLength value="255"/>
        </xsd:restriction>
      </xsd:simpleType>
    </xsd:element>
    <xsd:element name="TaxCatchAll" ma:index="22" nillable="true" ma:displayName="Taxonomy Catch All Column" ma:hidden="true" ma:list="{bd4d8b4d-f714-473f-bf82-41f4b564c287}" ma:internalName="TaxCatchAll" ma:showField="CatchAllData" ma:web="a16b777b-eb0b-4844-aa73-ac2af43907a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16b777b-eb0b-4844-aa73-ac2af43907aa" xsi:nil="true"/>
    <lcf76f155ced4ddcb4097134ff3c332f xmlns="300fa37b-2a09-4011-a0db-c11ba6d392f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82D8A46-76ED-464E-9355-EDEEBB8D48C9}"/>
</file>

<file path=customXml/itemProps2.xml><?xml version="1.0" encoding="utf-8"?>
<ds:datastoreItem xmlns:ds="http://schemas.openxmlformats.org/officeDocument/2006/customXml" ds:itemID="{6EA0F9CD-4A43-4AB7-9A8F-FE00ED61D742}"/>
</file>

<file path=customXml/itemProps3.xml><?xml version="1.0" encoding="utf-8"?>
<ds:datastoreItem xmlns:ds="http://schemas.openxmlformats.org/officeDocument/2006/customXml" ds:itemID="{A0AFBC8B-36C8-4D83-AF30-C86E944952CB}"/>
</file>

<file path=docProps/app.xml><?xml version="1.0" encoding="utf-8"?>
<Properties xmlns="http://schemas.openxmlformats.org/officeDocument/2006/extended-properties" xmlns:vt="http://schemas.openxmlformats.org/officeDocument/2006/docPropsVTypes">
  <TotalTime>160</TotalTime>
  <Words>909</Words>
  <Application>Microsoft Office PowerPoint</Application>
  <PresentationFormat>Widescreen</PresentationFormat>
  <Paragraphs>42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Bierstadt</vt:lpstr>
      <vt:lpstr>Tahoma</vt:lpstr>
      <vt:lpstr>GestaltVTI</vt:lpstr>
      <vt:lpstr>KẾ HOẠCH </vt:lpstr>
      <vt:lpstr>Diễn giải nội dung </vt:lpstr>
      <vt:lpstr>3 thách thức</vt:lpstr>
      <vt:lpstr>Chiến lược tiếp cận</vt:lpstr>
      <vt:lpstr>Action Plan </vt:lpstr>
      <vt:lpstr>Tech 1  - Thu</vt:lpstr>
      <vt:lpstr>Tech 2 (Chuyên về Truy xuất &amp; Hiển thị) </vt:lpstr>
      <vt:lpstr>Quản lý task - TA</vt:lpstr>
      <vt:lpstr>Kênh tham khảo youtube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Anh Trương</dc:creator>
  <cp:lastModifiedBy>Anh Trương</cp:lastModifiedBy>
  <cp:revision>1</cp:revision>
  <dcterms:created xsi:type="dcterms:W3CDTF">2026-06-25T04:50:07Z</dcterms:created>
  <dcterms:modified xsi:type="dcterms:W3CDTF">2026-06-25T07:31:05Z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0x0101003421C2F09A4BEA46A5B5AE4284068530</vt:lpwstr>
  </property>
</Properties>
</file>